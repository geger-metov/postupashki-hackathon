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233F"/>
    <a:srgbClr val="1E27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02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Выручка, ₽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Аналитика про</c:v>
                </c:pt>
                <c:pt idx="1">
                  <c:v>ML про</c:v>
                </c:pt>
                <c:pt idx="2">
                  <c:v>AI агенты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740942</c:v>
                </c:pt>
                <c:pt idx="1">
                  <c:v>715110</c:v>
                </c:pt>
                <c:pt idx="2">
                  <c:v>711673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A4-43E5-A1AD-B7F2354F6A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07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ROMI_attr, ×</c:v>
                </c:pt>
              </c:strCache>
            </c:strRef>
          </c:tx>
          <c:spPr>
            <a:solidFill>
              <a:srgbClr val="1F9E6D"/>
            </a:solidFill>
            <a:effectLst/>
          </c:spPr>
          <c:invertIfNegative val="0"/>
          <c:dLbls>
            <c:numFmt formatCode="0.00&quot;×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pl_019</c:v>
                </c:pt>
                <c:pt idx="1">
                  <c:v>pl_002</c:v>
                </c:pt>
                <c:pt idx="2">
                  <c:v>pl_011</c:v>
                </c:pt>
                <c:pt idx="3">
                  <c:v>pl_000</c:v>
                </c:pt>
                <c:pt idx="4">
                  <c:v>pl_023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4.1900000000000004</c:v>
                </c:pt>
                <c:pt idx="1">
                  <c:v>3.69</c:v>
                </c:pt>
                <c:pt idx="2">
                  <c:v>2.5</c:v>
                </c:pt>
                <c:pt idx="3">
                  <c:v>2.4900000000000002</c:v>
                </c:pt>
                <c:pt idx="4">
                  <c:v>2.41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E0-4A61-B5C1-4007C3774D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07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649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621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5120640" cy="512064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2926080" cy="2926080"/>
          </a:xfrm>
          <a:prstGeom prst="ellipse">
            <a:avLst/>
          </a:prstGeom>
          <a:solidFill>
            <a:srgbClr val="24306B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МАРКЕТИНГ-ИЗМЕРЕНИЕ · ХАКАТОН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830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Поступашки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803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Measurement System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«чёрного ящика» продаж — к системе принятия решений о рекламном бюджете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4617720"/>
            <a:ext cx="2926080" cy="0"/>
          </a:xfrm>
          <a:prstGeom prst="line">
            <a:avLst/>
          </a:prstGeom>
          <a:noFill/>
          <a:ln w="12700">
            <a:solidFill>
              <a:srgbClr val="3B469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846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7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4846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7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12.09.2026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4846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7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 ДАННЫХ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04.08 – 10.09.2026</a:t>
            </a:r>
            <a:endParaRPr lang="en-US" sz="1500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685800" y="5528101"/>
            <a:ext cx="62653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Шамсутдинова Наиля </a:t>
            </a:r>
            <a:r>
              <a:rPr lang="ru-RU" sz="1200" dirty="0" err="1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Халиловна</a:t>
            </a:r>
            <a:r>
              <a:rPr lang="ru-RU" sz="1200" dirty="0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 </a:t>
            </a:r>
            <a:r>
              <a:rPr lang="ru-RU" sz="1200" dirty="0" smtClean="0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- </a:t>
            </a:r>
            <a:r>
              <a:rPr lang="en-US" sz="1200" dirty="0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Analyst / Product </a:t>
            </a:r>
            <a:r>
              <a:rPr lang="en-US" sz="1200" dirty="0" smtClean="0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Manager</a:t>
            </a:r>
            <a:r>
              <a:rPr lang="ru-RU" sz="1200" dirty="0" smtClean="0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 </a:t>
            </a:r>
            <a:r>
              <a:rPr lang="en-US" sz="1200" dirty="0" smtClean="0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@</a:t>
            </a:r>
            <a:r>
              <a:rPr lang="en-US" sz="1200" dirty="0" err="1" smtClean="0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keyko</a:t>
            </a:r>
            <a:r>
              <a:rPr lang="en-US" sz="1200" dirty="0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
</a:t>
            </a:r>
            <a:r>
              <a:rPr lang="ru-RU" sz="1200" dirty="0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Хакимова Эвелина </a:t>
            </a:r>
            <a:r>
              <a:rPr lang="ru-RU" sz="1200" dirty="0" err="1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Рамилевна</a:t>
            </a:r>
            <a:r>
              <a:rPr lang="ru-RU" sz="1200" dirty="0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 </a:t>
            </a:r>
            <a:r>
              <a:rPr lang="ru-RU" sz="1200" dirty="0" smtClean="0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- </a:t>
            </a:r>
            <a:r>
              <a:rPr lang="en-US" sz="1200" dirty="0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Team Lead / </a:t>
            </a:r>
            <a:r>
              <a:rPr lang="en-US" sz="1200" dirty="0" smtClean="0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Analyst @</a:t>
            </a:r>
            <a:r>
              <a:rPr lang="en-US" sz="1200" dirty="0" err="1" smtClean="0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rachelteea</a:t>
            </a:r>
            <a:r>
              <a:rPr lang="en-US" sz="1200" dirty="0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
</a:t>
            </a:r>
            <a:r>
              <a:rPr lang="ru-RU" sz="1200" dirty="0" err="1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Камчыбеков</a:t>
            </a:r>
            <a:r>
              <a:rPr lang="ru-RU" sz="1200" dirty="0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 Ислам </a:t>
            </a:r>
            <a:r>
              <a:rPr lang="ru-RU" sz="1200" dirty="0" err="1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Замирбекович</a:t>
            </a:r>
            <a:r>
              <a:rPr lang="ru-RU" sz="1200" dirty="0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 </a:t>
            </a:r>
            <a:r>
              <a:rPr lang="ru-RU" sz="1200" dirty="0" smtClean="0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– </a:t>
            </a:r>
            <a:r>
              <a:rPr lang="en-US" sz="1200" dirty="0" smtClean="0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Backend @ckuf4</a:t>
            </a:r>
            <a:r>
              <a:rPr lang="en-US" sz="1200" dirty="0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
</a:t>
            </a:r>
            <a:r>
              <a:rPr lang="ru-RU" sz="1200" dirty="0" err="1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Решедов</a:t>
            </a:r>
            <a:r>
              <a:rPr lang="ru-RU" sz="1200" dirty="0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 Рашид </a:t>
            </a:r>
            <a:r>
              <a:rPr lang="ru-RU" sz="1200" dirty="0" err="1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Рахманович</a:t>
            </a:r>
            <a:r>
              <a:rPr lang="ru-RU" sz="1200" dirty="0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 </a:t>
            </a:r>
            <a:r>
              <a:rPr lang="ru-RU" sz="1200" dirty="0" smtClean="0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- </a:t>
            </a:r>
            <a:r>
              <a:rPr lang="en-US" sz="1200" dirty="0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Backend / Data </a:t>
            </a:r>
            <a:r>
              <a:rPr lang="en-US" sz="1200" dirty="0" smtClean="0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Science @</a:t>
            </a:r>
            <a:r>
              <a:rPr lang="en-US" sz="1200" dirty="0" err="1" smtClean="0">
                <a:solidFill>
                  <a:srgbClr val="F5F5F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Pro Light" panose="02000503030000020004" pitchFamily="2" charset="0"/>
                <a:cs typeface="Gotham Pro Light" panose="02000503030000020004" pitchFamily="2" charset="0"/>
              </a:rPr>
              <a:t>dulta</a:t>
            </a:r>
            <a:endParaRPr lang="en-US" sz="1200" dirty="0">
              <a:solidFill>
                <a:srgbClr val="F5F5F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Pro Light" panose="02000503030000020004" pitchFamily="2" charset="0"/>
              <a:cs typeface="Gotham Pro Light" panose="02000503030000020004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ПРОБЛЕМА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Воронка Поступашек — «чёрный ящик»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 видит факт оплаты и доступ к курсу, но почти не видит путь пользователя до неё. Исторически логировался только последний шаг цепочки.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960120" cy="1005840"/>
          </a:xfrm>
          <a:prstGeom prst="roundRect">
            <a:avLst>
              <a:gd name="adj" fmla="val 8571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880360"/>
            <a:ext cx="960120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Реклама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880360"/>
            <a:ext cx="100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09344" y="2880360"/>
            <a:ext cx="960120" cy="1005840"/>
          </a:xfrm>
          <a:prstGeom prst="roundRect">
            <a:avLst>
              <a:gd name="adj" fmla="val 8571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09344" y="2880360"/>
            <a:ext cx="960120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569464" y="2880360"/>
            <a:ext cx="100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70048" y="2880360"/>
            <a:ext cx="960120" cy="1005840"/>
          </a:xfrm>
          <a:prstGeom prst="roundRect">
            <a:avLst>
              <a:gd name="adj" fmla="val 8571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70048" y="2880360"/>
            <a:ext cx="960120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2880360"/>
            <a:ext cx="100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30752" y="2880360"/>
            <a:ext cx="960120" cy="1005840"/>
          </a:xfrm>
          <a:prstGeom prst="roundRect">
            <a:avLst>
              <a:gd name="adj" fmla="val 8571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30752" y="2880360"/>
            <a:ext cx="960120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690872" y="2880360"/>
            <a:ext cx="100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91456" y="2880360"/>
            <a:ext cx="960120" cy="1005840"/>
          </a:xfrm>
          <a:prstGeom prst="roundRect">
            <a:avLst>
              <a:gd name="adj" fmla="val 8571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91456" y="2880360"/>
            <a:ext cx="960120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751576" y="2880360"/>
            <a:ext cx="100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7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52160" y="2880360"/>
            <a:ext cx="960120" cy="1005840"/>
          </a:xfrm>
          <a:prstGeom prst="roundRect">
            <a:avLst>
              <a:gd name="adj" fmla="val 8571"/>
            </a:avLst>
          </a:prstGeom>
          <a:solidFill>
            <a:srgbClr val="1F9E6D"/>
          </a:solidFill>
          <a:ln w="12700">
            <a:solidFill>
              <a:srgbClr val="1F9E6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52160" y="2880360"/>
            <a:ext cx="960120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05079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F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Наблюдаемый шаг (единственный, что логировался системно)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39826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7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логировалось: касания, стоимость размещений, источник пользователя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52360" y="1554480"/>
            <a:ext cx="4160520" cy="2880360"/>
          </a:xfrm>
          <a:prstGeom prst="roundRect">
            <a:avLst>
              <a:gd name="adj" fmla="val 3175"/>
            </a:avLst>
          </a:prstGeom>
          <a:solidFill>
            <a:srgbClr val="1E2761"/>
          </a:solidFill>
          <a:ln/>
          <a:effectLst>
            <a:outerShdw blurRad="152400" dist="38100" dir="5400000" algn="bl" rotWithShape="0">
              <a:srgbClr val="1E2761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772400" y="1810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БИЗНЕС-ВОПРОС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219456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«У меня есть 300 000 ₽ на рекламу следующего запуска. Куда их направить?»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38862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рекламные активности реально приносят деньги?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ДАННЫЕ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мы знаем: реальный слой и синтетический слой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Исторических рекламных касаний и cost размещений нет — синтетика используется только для демонстрации pipeline измерения.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EE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532888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F9E6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328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layer · base.xlsx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74720"/>
            <a:ext cx="4800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795 строк продаж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628 заказов после нормализации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606 уникальных покупателей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курсов, 153 пакета (2+ курса)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Период: 04.08–10.09.2026 (38 дней)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Публичные посты Telegram-канала (60+, классифицированы)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224028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FF3EF"/>
          </a:solidFill>
          <a:ln w="12700">
            <a:solidFill>
              <a:srgbClr val="F4C4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2532888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E858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25328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СИНТЕТИЧЕСКИЕ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017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layer · demo pipeline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474720"/>
            <a:ext cx="4800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ad_registry — реестр размещений (cost, publication_time)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touches — журнал касаний (click, bot_start, lead)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identity_map — связь telegram_user_id ↔ student_id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Помечены data_source = synthetic во всех таблицах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 интерпретировать как реальные исторические данные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КЛЮЧЕВЫЕ МЕТРИКИ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Выручка, заказы, средний чек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201168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5 904 671 ₽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83464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выручка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55848" y="169164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EEF2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20440" y="201168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628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83464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Всего заказов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63056" y="169164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EEF2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27648" y="201168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9 402 ₽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6327648" y="283464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чек (по заказам)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70264" y="169164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EEF2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34856" y="201168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24,4%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9134856" y="283464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Пакетных заказов (153)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EEF2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" y="3941064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606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4507992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Уникальных покупателей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55848" y="379476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EEF2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520440" y="3941064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3,5%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4507992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Повторных заказов (22)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63056" y="379476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EEF2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27648" y="3941064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7 475 ₽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327648" y="4507992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Медианный чек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70264" y="3794760"/>
            <a:ext cx="2606040" cy="1234440"/>
          </a:xfrm>
          <a:prstGeom prst="roundRect">
            <a:avLst>
              <a:gd name="adj" fmla="val 6667"/>
            </a:avLst>
          </a:prstGeom>
          <a:solidFill>
            <a:srgbClr val="EEF2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34856" y="3941064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– 19 350 ₽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9134856" y="4507992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Диапазон чека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257800"/>
            <a:ext cx="11109960" cy="658368"/>
          </a:xfrm>
          <a:prstGeom prst="roundRect">
            <a:avLst>
              <a:gd name="adj" fmla="val 9722"/>
            </a:avLst>
          </a:prstGeom>
          <a:solidFill>
            <a:srgbClr val="FFF3E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257800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Важно:  </a:t>
            </a:r>
            <a:r>
              <a:rPr lang="en-US" sz="120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чек по заказам (9 402 ₽) — корректный показатель для бизнес-решений. Средний чек по строкам (7 427 ₽) занижен: 153 пакета «размазаны» по нескольким строкам.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30936" y="1060704"/>
            <a:ext cx="1088136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Inter"/>
              </a:rPr>
              <a:t>Воспроизводимый pipeline измерения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1664208"/>
            <a:ext cx="1088136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B8C5DB"/>
                </a:solidFill>
                <a:latin typeface="Inter"/>
              </a:rPr>
              <a:t>От base.xlsx до рекомендации по бюджету — один запуск, 9 артефактов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30936" y="2029968"/>
            <a:ext cx="10927080" cy="0"/>
          </a:xfrm>
          <a:prstGeom prst="line">
            <a:avLst/>
          </a:prstGeom>
          <a:ln w="10160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30936" y="2441448"/>
            <a:ext cx="3182112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</a:rPr>
              <a:t>ВХОД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2852928"/>
            <a:ext cx="3182112" cy="1417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20" b="0">
                <a:solidFill>
                  <a:srgbClr val="B8C5DB"/>
                </a:solidFill>
                <a:latin typeface="Inter"/>
              </a:rPr>
              <a:t>base.xlsx — 795 строк
touches.csv — синтетика
ad_registry.csv — cost
users.csv —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8" y="2441448"/>
            <a:ext cx="3182112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</a:rPr>
              <a:t>ЗАПУСК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2907792"/>
            <a:ext cx="3182112" cy="512064"/>
          </a:xfrm>
          <a:prstGeom prst="roundRect">
            <a:avLst/>
          </a:prstGeom>
          <a:solidFill>
            <a:srgbClr val="16233F"/>
          </a:solidFill>
          <a:ln w="10160"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3008376"/>
            <a:ext cx="2889504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4A9EFF"/>
                </a:solidFill>
                <a:latin typeface="Consolas"/>
              </a:rPr>
              <a:t>python -m src.pipeline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3675887"/>
            <a:ext cx="3182112" cy="1508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20" b="0">
                <a:solidFill>
                  <a:srgbClr val="B8C5DB"/>
                </a:solidFill>
                <a:latin typeface="Inter"/>
              </a:rPr>
              <a:t>normalize_sales
attribution
romi
forecast
incrementality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2441448"/>
            <a:ext cx="3182112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</a:rPr>
              <a:t>ВЫХОД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2852928"/>
            <a:ext cx="3182112" cy="1417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20" b="0">
                <a:solidFill>
                  <a:srgbClr val="B8C5DB"/>
                </a:solidFill>
                <a:latin typeface="Inter"/>
              </a:rPr>
              <a:t>9 CSV в reports/
628 заказов
5 904 671 ₽
ROMI по 30 размещениям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0936" y="6163056"/>
            <a:ext cx="10927080" cy="0"/>
          </a:xfrm>
          <a:prstGeom prst="line">
            <a:avLst/>
          </a:prstGeom>
          <a:ln w="8890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0936" y="6309360"/>
            <a:ext cx="109270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9" b="0">
                <a:solidFill>
                  <a:srgbClr val="B8C5DB"/>
                </a:solidFill>
                <a:latin typeface="Inter"/>
              </a:rPr>
              <a:t>github.com/Geger-Metov/postupashki-hackathon   •   THE ANALYSTES   •   HACKATHON 2026</a:t>
            </a:r>
          </a:p>
        </p:txBody>
      </p:sp>
      <p:sp>
        <p:nvSpPr>
          <p:cNvPr id="17" name="Text 2"/>
          <p:cNvSpPr txBox="1"/>
          <p:nvPr/>
        </p:nvSpPr>
        <p:spPr>
          <a:xfrm>
            <a:off x="630936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 smtClean="0">
                <a:solidFill>
                  <a:srgbClr val="FF9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ru-RU" sz="1300" b="1" kern="0" spc="200" dirty="0" smtClean="0">
                <a:solidFill>
                  <a:srgbClr val="FF9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300" b="1" kern="0" spc="200" dirty="0" smtClean="0">
                <a:solidFill>
                  <a:srgbClr val="FF9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kern="0" spc="200" dirty="0">
                <a:solidFill>
                  <a:srgbClr val="FF9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300" b="1" kern="0" spc="200" dirty="0" smtClean="0">
                <a:solidFill>
                  <a:srgbClr val="FF9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PIPELINE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904105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 smtClean="0">
                <a:solidFill>
                  <a:srgbClr val="E8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ru-RU" sz="1300" b="1" kern="0" spc="200" dirty="0" smtClean="0">
                <a:solidFill>
                  <a:srgbClr val="E8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300" b="1" kern="0" spc="200" dirty="0" smtClean="0">
                <a:solidFill>
                  <a:srgbClr val="E8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kern="0" spc="200" dirty="0">
                <a:solidFill>
                  <a:srgbClr val="E8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РАЗВЕДОЧНЫЙ АНАЛИЗ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Топ-курсы, пики продаж и аномалии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Топ-3 курса по выручке — 36,7% всей выручки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2011680"/>
          <a:ext cx="57607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5720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Топ-3 пика выручки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9377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09.08 — 524 092 ₽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514600" y="49377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05.09 — 484 684 ₽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49377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06.09 — 396 075 ₽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629400" y="1600200"/>
            <a:ext cx="4983480" cy="4709160"/>
          </a:xfrm>
          <a:prstGeom prst="roundRect">
            <a:avLst>
              <a:gd name="adj" fmla="val 1748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903720" y="1828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АНОМАЛИИ — НЕ УДАЛЯЕМ, А ПОМЕЧАЕМ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903720" y="226771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2 237,5 ₽ × 8 раз</a:t>
            </a:r>
            <a:endParaRPr lang="en-US" sz="1550" dirty="0"/>
          </a:p>
        </p:txBody>
      </p:sp>
      <p:sp>
        <p:nvSpPr>
          <p:cNvPr id="13" name="Text 10"/>
          <p:cNvSpPr txBox="1"/>
          <p:nvPr/>
        </p:nvSpPr>
        <p:spPr>
          <a:xfrm>
            <a:off x="6903720" y="263347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и та же сумма в один день (06.09) у 7 разных студентов — похоже на рассрочку 8 950 ₽ / 4.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903720" y="34198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18 900 ₽ × 2 заказа</a:t>
            </a:r>
            <a:endParaRPr lang="en-US" sz="1550" dirty="0"/>
          </a:p>
        </p:txBody>
      </p:sp>
      <p:sp>
        <p:nvSpPr>
          <p:cNvPr id="15" name="Text 12"/>
          <p:cNvSpPr txBox="1"/>
          <p:nvPr/>
        </p:nvSpPr>
        <p:spPr>
          <a:xfrm>
            <a:off x="6903720" y="378561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Максимальные суммы в датасете — вероятно, пакеты из нескольких курсов.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903720" y="45720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₽ — минимальный чек</a:t>
            </a:r>
            <a:endParaRPr lang="en-US" sz="1550" dirty="0"/>
          </a:p>
        </p:txBody>
      </p:sp>
      <p:sp>
        <p:nvSpPr>
          <p:cNvPr id="17" name="Text 14"/>
          <p:cNvSpPr txBox="1"/>
          <p:nvPr/>
        </p:nvSpPr>
        <p:spPr>
          <a:xfrm>
            <a:off x="6903720" y="49377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Аномально низкая сумма — вероятно, доплата или частичная оплата.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903720" y="57424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Сигналы о процессах, которые не логируются: payment_type, is_bundle, discount_reason.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 smtClean="0">
                <a:solidFill>
                  <a:srgbClr val="E8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ru-RU" sz="1300" b="1" kern="0" spc="200" dirty="0" smtClean="0">
                <a:solidFill>
                  <a:srgbClr val="E8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300" b="1" kern="0" spc="200" dirty="0" smtClean="0">
                <a:solidFill>
                  <a:srgbClr val="E8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kern="0" spc="200" dirty="0">
                <a:solidFill>
                  <a:srgbClr val="E8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АТРИБУЦИЯ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ROMI_attr: какие размещения приписывают выручку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Модели: last touch · linear · time decay.  Окно атрибуции: 7 дней.  Синтетический слой — только для демонстрации pipeline.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Топ-5 размещений по ROMI_attr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2468880"/>
          <a:ext cx="58521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629400" y="2103120"/>
            <a:ext cx="4983480" cy="1737360"/>
          </a:xfrm>
          <a:prstGeom prst="roundRect">
            <a:avLst>
              <a:gd name="adj" fmla="val 4737"/>
            </a:avLst>
          </a:prstGeom>
          <a:solidFill>
            <a:srgbClr val="EEF2F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903720" y="2286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СВЕРКИ ВЫРУЧКИ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903720" y="26517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sum(attributed_revenue) = order_amount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315468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каждого заказа выполняется reconciliation по всем моделям атрибуции.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629400" y="4023360"/>
            <a:ext cx="4983480" cy="2011680"/>
          </a:xfrm>
          <a:prstGeom prst="roundRect">
            <a:avLst>
              <a:gd name="adj" fmla="val 4091"/>
            </a:avLst>
          </a:prstGeom>
          <a:solidFill>
            <a:srgbClr val="FFF3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903720" y="4206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8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 по кампаниям (cmp_007 — лидер)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903720" y="45720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cmp_007 — 2,29×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cmp_002 — 1,95×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cmp_003 — 1,78×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cmp_006 — 0,06×  (аутсайдер)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 smtClean="0">
                <a:solidFill>
                  <a:srgbClr val="FF9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ru-RU" sz="1300" b="1" kern="0" spc="200" dirty="0" smtClean="0">
                <a:solidFill>
                  <a:srgbClr val="FF9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300" b="1" kern="0" spc="200" dirty="0" smtClean="0">
                <a:solidFill>
                  <a:srgbClr val="FF9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kern="0" spc="200" dirty="0">
                <a:solidFill>
                  <a:srgbClr val="FF9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ГЛАВНЫЙ ТЕЗИС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«После» не значит «из-за»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приписывает уже случившуюся продажу каналу. Incrementality отвечает, была бы продажа без рекламы вообще.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0789920" cy="340156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4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4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4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Вопрос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Кому приписать уже случившуюся продажу?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Была бы продажа без рекламы?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C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ROMI_attr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C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ROMI_inc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touch, linear, time decay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Holdout, DiD, ITS, synthetic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Использование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C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Приоритизация каналов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C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Решения по бюджету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Статус в MVP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Посчитан по 3 моделям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B1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not_available — нужен эксперимент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989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ROMI_inc в MVP не рассчитывается — таблица romi_by_campaign.csv честно помечает romi_inc = not_available. Это осознанное решение, не ошибка.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 smtClean="0">
                <a:solidFill>
                  <a:srgbClr val="E8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ru-RU" sz="1300" b="1" kern="0" spc="200" dirty="0" smtClean="0">
                <a:solidFill>
                  <a:srgbClr val="E8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1300" b="1" kern="0" spc="200" dirty="0" smtClean="0">
                <a:solidFill>
                  <a:srgbClr val="E8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kern="0" spc="200" dirty="0">
                <a:solidFill>
                  <a:srgbClr val="E8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ПРОГНОЗ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Forecast: честная валидация важнее сложности модели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короткая — 38 дней, меньше двух полных бизнес-циклов. Оценка — rolling-origin backtest.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5577840" cy="1700784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MAE, 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7D (скользящее среднее)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159,7%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99 496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Weekday Mean (по дням недели)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87 284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97764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Лучший baseline — Weekday Mean. MAPE 87,8% означает ошибку почти в 88% — это нижняя граница, не приемлемая точность для операционных решений.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46520" y="2194560"/>
            <a:ext cx="5166360" cy="3977640"/>
          </a:xfrm>
          <a:prstGeom prst="roundRect">
            <a:avLst>
              <a:gd name="adj" fmla="val 2069"/>
            </a:avLst>
          </a:prstGeom>
          <a:solidFill>
            <a:srgbClr val="FFF3E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72084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ТАК</a:t>
            </a:r>
            <a:endParaRPr lang="en-US" sz="1100" dirty="0"/>
          </a:p>
        </p:txBody>
      </p:sp>
      <p:sp>
        <p:nvSpPr>
          <p:cNvPr id="5" name="Text 6"/>
          <p:cNvSpPr txBox="1"/>
          <p:nvPr/>
        </p:nvSpPr>
        <p:spPr>
          <a:xfrm>
            <a:off x="6720840" y="27889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дней истории — меньше двух полных бизнес-циклов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Пики (запуски) и провалы не описываются сезонностью по дням недели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признаков is_launch_day / promo_active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720840" y="4343400"/>
            <a:ext cx="4617720" cy="0"/>
          </a:xfrm>
          <a:prstGeom prst="line">
            <a:avLst/>
          </a:prstGeom>
          <a:noFill/>
          <a:ln w="12700">
            <a:solidFill>
              <a:srgbClr val="F4C4B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72084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ДЕЛАТЬ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720840" y="48463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≥3 месяцев истории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launch_id, promo_start/end, ad_spend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Сравнивать с baseline на rolling-origin backtest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b="1" kern="0" spc="200" dirty="0" smtClean="0">
                <a:solidFill>
                  <a:srgbClr val="E8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1300" b="1" kern="0" spc="200" dirty="0" smtClean="0">
                <a:solidFill>
                  <a:srgbClr val="E8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kern="0" spc="200" dirty="0">
                <a:solidFill>
                  <a:srgbClr val="E8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РЕШЕНИЕ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300 000 ₽: система принятия решения, не «вот канал»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24328" cy="3246120"/>
          </a:xfrm>
          <a:prstGeom prst="roundRect">
            <a:avLst>
              <a:gd name="adj" fmla="val 3136"/>
            </a:avLst>
          </a:prstGeom>
          <a:solidFill>
            <a:srgbClr val="EEF2F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7783A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46888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Измерить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200400"/>
            <a:ext cx="2221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links, ad_registry, логирование диалогов и оплат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416052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78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10 000 ₽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452628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бюджета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172968" y="31318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7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55848" y="1691640"/>
            <a:ext cx="2624328" cy="3246120"/>
          </a:xfrm>
          <a:prstGeom prst="roundRect">
            <a:avLst>
              <a:gd name="adj" fmla="val 3136"/>
            </a:avLst>
          </a:prstGeom>
          <a:solidFill>
            <a:srgbClr val="EEF2FC"/>
          </a:solidFill>
          <a:ln/>
        </p:spPr>
      </p:sp>
      <p:sp>
        <p:nvSpPr>
          <p:cNvPr id="13" name="Shape 11"/>
          <p:cNvSpPr/>
          <p:nvPr/>
        </p:nvSpPr>
        <p:spPr>
          <a:xfrm>
            <a:off x="3557016" y="18928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57016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57016" y="246888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Приоритизировать по ROMI_attr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3557016" y="3200400"/>
            <a:ext cx="2221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Масштабировать зону A (ROMI &gt; 2), поддержать зону B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557016" y="416052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150 000 ₽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557016" y="452628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бюджета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980176" y="31318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7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63056" y="1691640"/>
            <a:ext cx="2624328" cy="3246120"/>
          </a:xfrm>
          <a:prstGeom prst="roundRect">
            <a:avLst>
              <a:gd name="adj" fmla="val 3136"/>
            </a:avLst>
          </a:prstGeom>
          <a:solidFill>
            <a:srgbClr val="EEF2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364224" y="1892808"/>
            <a:ext cx="457200" cy="457200"/>
          </a:xfrm>
          <a:prstGeom prst="ellipse">
            <a:avLst/>
          </a:prstGeom>
          <a:solidFill>
            <a:srgbClr val="E8583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64224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364224" y="246888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Проверить эффект рекламы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364224" y="3200400"/>
            <a:ext cx="2221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Holdout-группа 10%, DiD-анализ, замер incremental revenue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364224" y="416052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5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50 000 ₽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364224" y="452628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бюджета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787384" y="31318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7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970264" y="1691640"/>
            <a:ext cx="2624328" cy="3246120"/>
          </a:xfrm>
          <a:prstGeom prst="roundRect">
            <a:avLst>
              <a:gd name="adj" fmla="val 3136"/>
            </a:avLst>
          </a:prstGeom>
          <a:solidFill>
            <a:srgbClr val="EEF2FC"/>
          </a:solidFill>
          <a:ln/>
        </p:spPr>
      </p:sp>
      <p:sp>
        <p:nvSpPr>
          <p:cNvPr id="29" name="Shape 27"/>
          <p:cNvSpPr/>
          <p:nvPr/>
        </p:nvSpPr>
        <p:spPr>
          <a:xfrm>
            <a:off x="9171432" y="1892808"/>
            <a:ext cx="457200" cy="457200"/>
          </a:xfrm>
          <a:prstGeom prst="ellipse">
            <a:avLst/>
          </a:prstGeom>
          <a:solidFill>
            <a:srgbClr val="1F9E6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71432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171432" y="246888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Масштабировать лидеров ROMI_inc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9171432" y="3200400"/>
            <a:ext cx="2221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Пересмотр распределения бюджета каждые 2 недели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171432" y="416052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9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90 000 ₽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9171432" y="452628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бюджета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193792"/>
            <a:ext cx="11109960" cy="658368"/>
          </a:xfrm>
          <a:prstGeom prst="roundRect">
            <a:avLst>
              <a:gd name="adj" fmla="val 9722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" y="519379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 распределять бюджет, если не измеряем · нельзя масштабировать по ROMI_attr без holdout · нельзя вкладывать в убыточные размещения · нельзя решать раз и навсегда.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78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969</Words>
  <Application>Microsoft Office PowerPoint</Application>
  <PresentationFormat>Широкоэкранный</PresentationFormat>
  <Paragraphs>191</Paragraphs>
  <Slides>10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Arial</vt:lpstr>
      <vt:lpstr>Calibri</vt:lpstr>
      <vt:lpstr>Cambria</vt:lpstr>
      <vt:lpstr>Consolas</vt:lpstr>
      <vt:lpstr>Courier New</vt:lpstr>
      <vt:lpstr>Gotham Pro Light</vt:lpstr>
      <vt:lpstr>Inter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3</cp:revision>
  <dcterms:created xsi:type="dcterms:W3CDTF">2026-09-12T20:23:25Z</dcterms:created>
  <dcterms:modified xsi:type="dcterms:W3CDTF">2026-09-12T08:29:13Z</dcterms:modified>
</cp:coreProperties>
</file>